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South Korea - Switzerland Currency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3498DB"/>
                </a:solidFill>
              </a:defRPr>
            </a:pPr>
            <a:r>
              <a:t>KRW/CHF Exchange Rate &amp; Economic Impact •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Part A: Why Switzerland?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Critical trading partner: $5.2B bilateral trade</a:t>
            </a:r>
          </a:p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Korea exports: Semiconductors, electronics, vehicles ($2.1B)</a:t>
            </a:r>
          </a:p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Korea imports: Precision machinery, pharmaceuticals, watches ($3.1B)</a:t>
            </a:r>
          </a:p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Trade deficit: $1.0B (Korea imports more)</a:t>
            </a:r>
          </a:p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Strategic: Swiss precision tools enable Korean semiconductor manufacturing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Part B: KRW/CHF Exchange Rate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Historical (Aug 01, 2025): 1 KRW = 0.000585 CHF</a:t>
            </a:r>
          </a:p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Current (Jan 29, 2026): 1 KRW = 0.000536 CHF</a:t>
            </a:r>
          </a:p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Change: -8.40%</a:t>
            </a:r>
          </a:p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Direction: Depreciation</a:t>
            </a:r>
          </a:p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Impact: Korean exporters benefit, importers face cost pressure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KRW/CHF Exchange Rate Trend</a:t>
            </a:r>
          </a:p>
        </p:txBody>
      </p:sp>
      <p:pic>
        <p:nvPicPr>
          <p:cNvPr id="4" name="Picture 3" descr="exchange_rat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36303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6-month trend showing 8.40% depreciation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Stakeholder Impact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/>
            </a:pPr>
            <a:r>
              <a:t>• WINNERS:</a:t>
            </a:r>
          </a:p>
          <a:p>
            <a:pPr>
              <a:spcBef>
                <a:spcPts val="1000"/>
              </a:spcBef>
              <a:defRPr sz="1600"/>
            </a:pPr>
            <a:r>
              <a:t>• • Korean exporters (BENEFIT)</a:t>
            </a:r>
          </a:p>
          <a:p>
            <a:pPr>
              <a:spcBef>
                <a:spcPts val="1000"/>
              </a:spcBef>
              <a:defRPr sz="1600"/>
            </a:pPr>
            <a:r>
              <a:t>•   - Samsung, Hyundai, LG benefit</a:t>
            </a:r>
          </a:p>
          <a:p>
            <a:pPr>
              <a:spcBef>
                <a:spcPts val="1000"/>
              </a:spcBef>
              <a:defRPr sz="1600"/>
            </a:pPr>
            <a:r>
              <a:t>•   - Goods cheaper for Swiss buyers</a:t>
            </a:r>
          </a:p>
          <a:p>
            <a:pPr>
              <a:spcBef>
                <a:spcPts val="1000"/>
              </a:spcBef>
              <a:defRPr sz="1600"/>
            </a:pPr>
            <a:r>
              <a:t>• • Forex traders</a:t>
            </a:r>
          </a:p>
          <a:p>
            <a:pPr>
              <a:spcBef>
                <a:spcPts val="1000"/>
              </a:spcBef>
              <a:defRPr sz="1600"/>
            </a:pPr>
            <a:r>
              <a:t>•   - Carry trade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/>
            </a:pPr>
            <a:r>
              <a:t>• LOSERS:</a:t>
            </a:r>
          </a:p>
          <a:p>
            <a:pPr>
              <a:spcBef>
                <a:spcPts val="1000"/>
              </a:spcBef>
              <a:defRPr sz="1600"/>
            </a:pPr>
            <a:r>
              <a:t>• • Korean importers (LOSS)</a:t>
            </a:r>
          </a:p>
          <a:p>
            <a:pPr>
              <a:spcBef>
                <a:spcPts val="1000"/>
              </a:spcBef>
              <a:defRPr sz="1600"/>
            </a:pPr>
            <a:r>
              <a:t>•   - Swiss machinery costlier</a:t>
            </a:r>
          </a:p>
          <a:p>
            <a:pPr>
              <a:spcBef>
                <a:spcPts val="1000"/>
              </a:spcBef>
              <a:defRPr sz="1600"/>
            </a:pPr>
            <a:r>
              <a:t>•   - Roche/Novartis drugs expensive</a:t>
            </a:r>
          </a:p>
          <a:p>
            <a:pPr>
              <a:spcBef>
                <a:spcPts val="1000"/>
              </a:spcBef>
              <a:defRPr sz="1600"/>
            </a:pPr>
            <a:r>
              <a:t>• • Korean SMEs</a:t>
            </a:r>
          </a:p>
          <a:p>
            <a:pPr>
              <a:spcBef>
                <a:spcPts val="1000"/>
              </a:spcBef>
              <a:defRPr sz="1600"/>
            </a:pPr>
            <a:r>
              <a:t>•   - Lack hedging capacity</a:t>
            </a:r>
          </a:p>
          <a:p>
            <a:pPr>
              <a:spcBef>
                <a:spcPts val="1000"/>
              </a:spcBef>
              <a:defRPr sz="1600"/>
            </a:pPr>
            <a:r>
              <a:t>•   - Vulnerable to shocks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Part C: Interest Rate Parity (IRP)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Korea interest rate: 3.25%</a:t>
            </a:r>
          </a:p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Switzerland interest rate: 1.25%</a:t>
            </a:r>
          </a:p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Differential: +2.00% (Korea higher)</a:t>
            </a:r>
          </a:p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Forward rate (IRP): 0.000525 CHF per KRW</a:t>
            </a:r>
          </a:p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Implied KRW movement: -1.94%</a:t>
            </a:r>
          </a:p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Interpretation: Higher Korean rates offset by expected 1.94% depreciation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Part C: Purchasing Power Parity (PPP)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Korea inflation: 2.30%</a:t>
            </a:r>
          </a:p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Switzerland inflation: 1.40%</a:t>
            </a:r>
          </a:p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Differential: +0.90%</a:t>
            </a:r>
          </a:p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PPP expected rate: 0.000531 CHF per KRW</a:t>
            </a:r>
          </a:p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Implication: Higher Korean inflation → KRW depreciation pressure</a:t>
            </a:r>
          </a:p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Both IRP and PPP predict Won weakness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Part D: Policy Recommendations for South Korea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CHALLENGE: 'Impossible Trinity'</a:t>
            </a:r>
          </a:p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  - Can't control exchange rate, capital flows, AND monetary policy simultaneously</a:t>
            </a:r>
          </a:p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RISK: Safe haven squeeze during global stress (KRW → CHF flight)</a:t>
            </a:r>
          </a:p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RISK: Imported inflation from Won depreciation</a:t>
            </a:r>
          </a:p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RECOMMENDATION: 'SME Forex Liquidity Facility'</a:t>
            </a:r>
          </a:p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  - Provide hedging instruments to small Korean businesses</a:t>
            </a:r>
          </a:p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  - Protect against import cost shocks</a:t>
            </a:r>
          </a:p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  - Stabilize supply chains while maintaining export competitiveness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Volatility Analysis</a:t>
            </a:r>
          </a:p>
        </p:txBody>
      </p:sp>
      <p:pic>
        <p:nvPicPr>
          <p:cNvPr id="4" name="Picture 3" descr="volatilit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30280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Rolling volatility and return distribution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Part E: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✓ KRW depreciationd 8.40% vs CHF over 6 months</a:t>
            </a:r>
          </a:p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✓ IRP and PPP both predict Won depreciation (fundamentals-driven)</a:t>
            </a:r>
          </a:p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✓ Korean exporters (Samsung, Hyundai) gain competitiveness</a:t>
            </a:r>
          </a:p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✓ Korean importers face margin pressure from expensive Swiss goods</a:t>
            </a:r>
          </a:p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✓ Policy challenge: Balance export growth vs. imported inflation</a:t>
            </a:r>
          </a:p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✓ Solution: SME Forex Facility to protect vulnerable businesses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